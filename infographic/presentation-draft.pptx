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34095" y="-2743200"/>
            <a:ext cx="5486400" cy="5486400"/>
          </a:xfrm>
          <a:prstGeom prst="ellipse">
            <a:avLst/>
          </a:prstGeom>
          <a:solidFill>
            <a:srgbClr val="0D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2400" b="0">
                <a:solidFill>
                  <a:srgbClr val="F7F1E3"/>
                </a:solidFill>
                <a:latin typeface="Noto Naskh Arabic"/>
              </a:rPr>
              <a:t>يسرنا أن نعلن عن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2895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5800" b="1">
                <a:solidFill>
                  <a:srgbClr val="FFFFFF"/>
                </a:solidFill>
                <a:latin typeface="Noto Naskh Arabic"/>
              </a:rPr>
              <a:t>معهد الهدي النبوي</a:t>
            </a:r>
          </a:p>
          <a:p>
            <a:pPr algn="ctr" rtl="1"/>
            <a:r>
              <a:rPr sz="5800" b="1">
                <a:solidFill>
                  <a:srgbClr val="FFFFFF"/>
                </a:solidFill>
                <a:latin typeface="Noto Naskh Arabic"/>
              </a:rPr>
              <a:t>للعلوم الشرعية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4160520"/>
            <a:ext cx="3657600" cy="12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400" b="0">
                <a:solidFill>
                  <a:srgbClr val="E0B333"/>
                </a:solidFill>
                <a:latin typeface="Noto Naskh Arabic"/>
              </a:rPr>
              <a:t>بدء التسجيل على الدورة الأولى لعام ٢٠٢٦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1800" b="0">
                <a:solidFill>
                  <a:srgbClr val="F7F1E3"/>
                </a:solidFill>
                <a:latin typeface="IBM Plex Sans Arabic"/>
              </a:rPr>
              <a:t>برنامج تأهيل شرعي لغير المتفرغين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IBM Plex Sans Arab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73152" cy="8229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094415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3200" b="1">
                <a:solidFill>
                  <a:srgbClr val="084D47"/>
                </a:solidFill>
                <a:latin typeface="Noto Naskh Arabic"/>
              </a:rPr>
              <a:t>الرؤيا والرسالة والأهداف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من النظام الداخلي للمعهد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4407" y="1920240"/>
            <a:ext cx="5272887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27295" y="1920240"/>
            <a:ext cx="50000" cy="169164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7287" y="2011680"/>
            <a:ext cx="4907127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200" b="1">
                <a:solidFill>
                  <a:srgbClr val="084D47"/>
                </a:solidFill>
                <a:latin typeface="Noto Naskh Arabic"/>
              </a:rPr>
              <a:t>الرؤيا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287" y="2560320"/>
            <a:ext cx="4907127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400" b="0">
                <a:solidFill>
                  <a:srgbClr val="2A3836"/>
                </a:solidFill>
                <a:latin typeface="IBM Plex Sans Arabic"/>
              </a:rPr>
              <a:t>الإسهام في ترسيخ الفهم المنضبط لمبادئ علوم الشريعة وأساسياتها، بما يستثمر تراث العلماء ويستجيب لمتطلبات العصر.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272887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80087" y="1920240"/>
            <a:ext cx="50000" cy="169164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4907127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200" b="1">
                <a:solidFill>
                  <a:srgbClr val="084D47"/>
                </a:solidFill>
                <a:latin typeface="Noto Naskh Arabic"/>
              </a:rPr>
              <a:t>الرسالة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4907127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400" b="0">
                <a:solidFill>
                  <a:srgbClr val="2A3836"/>
                </a:solidFill>
                <a:latin typeface="IBM Plex Sans Arabic"/>
              </a:rPr>
              <a:t>تأهيل طلاب علم ودعاة يجمعون بين العلم والحكمة والتزكية، لبناء الوطن من خلال خطاب إسلامي يخاطب العقول ويجذب القلوب، وفق برامج تعليمية متكاملة لغير المتفرغين.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11277295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84495" y="3749039"/>
            <a:ext cx="50000" cy="27432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79"/>
            <a:ext cx="1091153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200" b="1">
                <a:solidFill>
                  <a:srgbClr val="084D47"/>
                </a:solidFill>
                <a:latin typeface="Noto Naskh Arabic"/>
              </a:rPr>
              <a:t>الأهداف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19"/>
            <a:ext cx="10911535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500" b="0">
                <a:solidFill>
                  <a:srgbClr val="2A3836"/>
                </a:solidFill>
                <a:latin typeface="IBM Plex Sans Arabic"/>
              </a:rPr>
              <a:t>✦  تمكين الأصول العلمية في العلوم الشرعية لدى الدعاة إلى الله تعالى.</a:t>
            </a:r>
          </a:p>
          <a:p>
            <a:pPr algn="r" rtl="1"/>
            <a:r>
              <a:rPr sz="1500" b="0">
                <a:solidFill>
                  <a:srgbClr val="2A3836"/>
                </a:solidFill>
                <a:latin typeface="IBM Plex Sans Arabic"/>
              </a:rPr>
              <a:t>✦  الجمع بين تمكين العلم وتهذيب السلوك في الداعية إلى الله تعالى.</a:t>
            </a:r>
          </a:p>
          <a:p>
            <a:pPr algn="r" rtl="1"/>
            <a:r>
              <a:rPr sz="1500" b="0">
                <a:solidFill>
                  <a:srgbClr val="2A3836"/>
                </a:solidFill>
                <a:latin typeface="IBM Plex Sans Arabic"/>
              </a:rPr>
              <a:t>✦  تخريج دعاة يجمعون بين الصلاح الشخصي والإصلاح الاجتماعي.</a:t>
            </a:r>
          </a:p>
          <a:p>
            <a:pPr algn="r" rtl="1"/>
            <a:r>
              <a:rPr sz="1500" b="0">
                <a:solidFill>
                  <a:srgbClr val="2A3836"/>
                </a:solidFill>
                <a:latin typeface="IBM Plex Sans Arabic"/>
              </a:rPr>
              <a:t>✦  نشر العلوم الشرعية التي تصلح المجتمع وتعين على معالجة مشكلاته.</a:t>
            </a:r>
          </a:p>
          <a:p>
            <a:pPr algn="r" rtl="1"/>
            <a:r>
              <a:rPr sz="1500" b="0">
                <a:solidFill>
                  <a:srgbClr val="2A3836"/>
                </a:solidFill>
                <a:latin typeface="IBM Plex Sans Arabic"/>
              </a:rPr>
              <a:t>✦  تمكين أسس الخطاب الديني المعتدل الذي يعبّر عن روح الشريعة وسماحتها.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BM Plex Sans Arab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73152" cy="8229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094415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3200" b="1">
                <a:solidFill>
                  <a:srgbClr val="084D47"/>
                </a:solidFill>
                <a:latin typeface="Noto Naskh Arabic"/>
              </a:rPr>
              <a:t>ميزات الدراسة في المعهد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لماذا تختار معهد الهدي النبوي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2103120"/>
            <a:ext cx="541004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4495" y="2103120"/>
            <a:ext cx="50000" cy="201168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331720"/>
            <a:ext cx="486140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600" b="1">
                <a:solidFill>
                  <a:srgbClr val="084D47"/>
                </a:solidFill>
                <a:latin typeface="Noto Naskh Arabic"/>
              </a:rPr>
              <a:t>منهج علمي متين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3063240"/>
            <a:ext cx="4861407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٢٤ مقرراً موزعة على ثلاثة فصول دراسية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1004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7247" y="2103120"/>
            <a:ext cx="50000" cy="201168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486140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600" b="1">
                <a:solidFill>
                  <a:srgbClr val="084D47"/>
                </a:solidFill>
                <a:latin typeface="Noto Naskh Arabic"/>
              </a:rPr>
              <a:t>مرونة تامة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4861407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مناسب لغير المتفرغين من العاملين والجامعيين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4389120"/>
            <a:ext cx="541004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84495" y="4389120"/>
            <a:ext cx="50000" cy="201168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4617720"/>
            <a:ext cx="486140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600" b="1">
                <a:solidFill>
                  <a:srgbClr val="084D47"/>
                </a:solidFill>
                <a:latin typeface="Noto Naskh Arabic"/>
              </a:rPr>
              <a:t>اعتماد رسمي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5349240"/>
            <a:ext cx="4861407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شهادة صادرة عن وزارة الأوقاف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41004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7247" y="4389120"/>
            <a:ext cx="50000" cy="201168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486140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600" b="1">
                <a:solidFill>
                  <a:srgbClr val="084D47"/>
                </a:solidFill>
                <a:latin typeface="Noto Naskh Arabic"/>
              </a:rPr>
              <a:t>مجاني بالكامل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4861407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لا رسوم ولا أقساط طوال مدة الدراسة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BM Plex Sans Arab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73152" cy="8229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094415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3200" b="1">
                <a:solidFill>
                  <a:srgbClr val="084D47"/>
                </a:solidFill>
                <a:latin typeface="Noto Naskh Arabic"/>
              </a:rPr>
              <a:t>نظام الدراسة والامتحانات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نظرة عامة على المدة والتقييم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20911" y="1920240"/>
            <a:ext cx="2613583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4495" y="1920240"/>
            <a:ext cx="50000" cy="13716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0911" y="2057400"/>
            <a:ext cx="2613583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4400" b="1">
                <a:solidFill>
                  <a:srgbClr val="0D6B63"/>
                </a:solidFill>
                <a:latin typeface="Noto Naskh Arabic"/>
              </a:rPr>
              <a:t>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0911" y="2834640"/>
            <a:ext cx="261358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1400" b="0">
                <a:solidFill>
                  <a:srgbClr val="4A5856"/>
                </a:solidFill>
                <a:latin typeface="IBM Plex Sans Arabic"/>
              </a:rPr>
              <a:t>فصول دراسية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1920240"/>
            <a:ext cx="2613583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33751" y="1920240"/>
            <a:ext cx="50000" cy="13716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2057400"/>
            <a:ext cx="2613583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4400" b="1">
                <a:solidFill>
                  <a:srgbClr val="0D6B63"/>
                </a:solidFill>
                <a:latin typeface="Noto Naskh Arabic"/>
              </a:rPr>
              <a:t>٢١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834640"/>
            <a:ext cx="261358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1400" b="0">
                <a:solidFill>
                  <a:srgbClr val="4A5856"/>
                </a:solidFill>
                <a:latin typeface="IBM Plex Sans Arabic"/>
              </a:rPr>
              <a:t>شهراً إجمالاً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9423" y="1920240"/>
            <a:ext cx="2613583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3007" y="1920240"/>
            <a:ext cx="50000" cy="13716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23" y="2057400"/>
            <a:ext cx="2613583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4400" b="1">
                <a:solidFill>
                  <a:srgbClr val="0D6B63"/>
                </a:solidFill>
                <a:latin typeface="Noto Naskh Arabic"/>
              </a:rPr>
              <a:t>٢٤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423" y="2834640"/>
            <a:ext cx="261358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1400" b="0">
                <a:solidFill>
                  <a:srgbClr val="4A5856"/>
                </a:solidFill>
                <a:latin typeface="IBM Plex Sans Arabic"/>
              </a:rPr>
              <a:t>مقرراً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1920240"/>
            <a:ext cx="2613583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2263" y="1920240"/>
            <a:ext cx="50000" cy="13716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057400"/>
            <a:ext cx="2613583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4400" b="1">
                <a:solidFill>
                  <a:srgbClr val="0D6B63"/>
                </a:solidFill>
                <a:latin typeface="Noto Naskh Arabic"/>
              </a:rPr>
              <a:t>٦٠٪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834640"/>
            <a:ext cx="261358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1400" b="0">
                <a:solidFill>
                  <a:srgbClr val="4A5856"/>
                </a:solidFill>
                <a:latin typeface="IBM Plex Sans Arabic"/>
              </a:rPr>
              <a:t>درجة النجاح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66160"/>
            <a:ext cx="11277295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84495" y="3566160"/>
            <a:ext cx="50000" cy="283464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03320"/>
            <a:ext cx="108200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000" b="1">
                <a:solidFill>
                  <a:srgbClr val="084D47"/>
                </a:solidFill>
                <a:latin typeface="Noto Naskh Arabic"/>
              </a:rPr>
              <a:t>أبرز ضوابط الدراسة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10820095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400" b="0">
                <a:solidFill>
                  <a:srgbClr val="2A3836"/>
                </a:solidFill>
                <a:latin typeface="IBM Plex Sans Arabic"/>
              </a:rPr>
              <a:t>✦  كل فصل يمتد ستة أشهر يتبعها شهر للعطلة والامتحانات.</a:t>
            </a:r>
          </a:p>
          <a:p>
            <a:pPr algn="r" rtl="1"/>
            <a:r>
              <a:rPr sz="1400" b="0">
                <a:solidFill>
                  <a:srgbClr val="2A3836"/>
                </a:solidFill>
                <a:latin typeface="IBM Plex Sans Arabic"/>
              </a:rPr>
              <a:t>✦  توزيع الدرجات: ٧٠٪ للامتحان النظري و٣٠٪ لأعمال السنة (الحضور والوظائف).</a:t>
            </a:r>
          </a:p>
          <a:p>
            <a:pPr algn="r" rtl="1"/>
            <a:r>
              <a:rPr sz="1400" b="0">
                <a:solidFill>
                  <a:srgbClr val="2A3836"/>
                </a:solidFill>
                <a:latin typeface="IBM Plex Sans Arabic"/>
              </a:rPr>
              <a:t>✦  نسبة حضور لا تقل عن ٧٠٪ شرط لدخول الامتحان النهائي.</a:t>
            </a:r>
          </a:p>
          <a:p>
            <a:pPr algn="r" rtl="1"/>
            <a:r>
              <a:rPr sz="1400" b="0">
                <a:solidFill>
                  <a:srgbClr val="2A3836"/>
                </a:solidFill>
                <a:latin typeface="IBM Plex Sans Arabic"/>
              </a:rPr>
              <a:t>✦  ينتقل الطالب إلى الفصل التالي إذا لم يرسب في أكثر من ثلاث مواد تراكمية.</a:t>
            </a:r>
          </a:p>
          <a:p>
            <a:pPr algn="r" rtl="1"/>
            <a:r>
              <a:rPr sz="1400" b="0">
                <a:solidFill>
                  <a:srgbClr val="2A3836"/>
                </a:solidFill>
                <a:latin typeface="IBM Plex Sans Arabic"/>
              </a:rPr>
              <a:t>✦  تقام دورة امتحانية بعد كل فصل، ودورة تكميلية عند اللزوم.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BM Plex Sans Arab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73152" cy="8229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094415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3200" b="1">
                <a:solidFill>
                  <a:srgbClr val="084D47"/>
                </a:solidFill>
                <a:latin typeface="Noto Naskh Arabic"/>
              </a:rPr>
              <a:t>الخطة الدراسية — الفصل الأول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ثمانية مقررات أسبوعية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7729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705295"/>
              </a:tblGrid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المقرر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الساعات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الكتاب المقترح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قرآن كريم 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حفظ جزئي عمّ وتبارك مع تطبيق أحكام التجويد الأساسية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علوم القرآن والتفسير ١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علوم القرآن — د. نور الدين عتر، والتفسير الوجيز للواحدي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الحديث الشريف وعلومه 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شرح المنظومة البيقونية — الشيخ عبد الله سراج الدين + حفظ ١٠٠ حديث من رياض الصالحين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فقه ١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ساعتان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فقه العبادات — للسلقيني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نحو 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النحو الواضح (الجزء الأول) — علي الجارم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عقيدة ١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أوجز البيان في شرح أركان الإيمان — محمد صلاح تقوى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السيرة النبوية 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روضة الأنوار — للمباركفوري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تزكية وأخلاق ١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أيها الولد — للغزالي، وتعليم المتعلم — للزرنوجي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BM Plex Sans Arab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73152" cy="8229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094415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3200" b="1">
                <a:solidFill>
                  <a:srgbClr val="084D47"/>
                </a:solidFill>
                <a:latin typeface="Noto Naskh Arabic"/>
              </a:rPr>
              <a:t>الخطة الدراسية — الفصل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توسّع في الفقه والتفسير ومدخل إلى الخطابة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7729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705295"/>
              </a:tblGrid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المقرر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الساعات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الكتاب المقترح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قرآن كريم 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حفظ السور المسنونة (الكهف، يس، الواقعة، الدخان، السجدة)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تفسير ٢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تفسير السور المسنونة من صفوة التفاسير — للصابوني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الحديث الشريف 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إعلام الأنام في شرح بلوغ المرام — د. نور الدين عتر + حفظ ١٠٠ حديث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فقه ٢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ساعتان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المفصل في الفقه الحنفي — الأموال والمعاملات، محمد ماجد عتر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نحو 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النحو الواضح (الجزء الثاني) — علي الجارم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سيرة ٢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إتمام الوفاء في سيرة الخلفاء — للخضري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تزكية وأخلاق 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موعظة القلوب — د. إبراهيم شاشو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الخطابة وفن الدعوة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الدعوة والداعية — د. نور الدين عتر، ومقرر الدعوة والخطابة (وزارة الأوقاف)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BM Plex Sans Arab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73152" cy="8229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094415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3200" b="1">
                <a:solidFill>
                  <a:srgbClr val="084D47"/>
                </a:solidFill>
                <a:latin typeface="Noto Naskh Arabic"/>
              </a:rPr>
              <a:t>الخطة الدراسية — الفصل الثالث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تعمّق في البقرة والأحوال الشخصية والتاريخ الإسلامي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7729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705295"/>
              </a:tblGrid>
              <a:tr h="497840"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المقرر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الساعات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7F1E3"/>
                          </a:solidFill>
                          <a:latin typeface="Noto Naskh Arabic"/>
                        </a:rPr>
                        <a:t>الكتاب المقترح</a:t>
                      </a:r>
                    </a:p>
                  </a:txBody>
                  <a:tcPr>
                    <a:solidFill>
                      <a:srgbClr val="084D4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قرآن كريم 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حفظ سورة البقرة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تفسير ٣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تفسير سورة البقرة من صفوة التفاسير — للصابوني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الحديث الشريف 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إعلام الأنام في شرح بلوغ المرام — د. نور الدين عتر + حفظ ١٠٠ حديث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فقه ٣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ساعتان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الأحوال الشخصية — قدري باشا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نحو 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النحو الواضح (الجزء الثالث)، والمختار في قواعد الإملاء — د. عبد البديع النيرباني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سيرة ٣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تاريخ الإسلام — للسرجاني (الأموية، العباسية، العثمانية)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تزكية وأخلاق 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موعظة القلوب — د. إبراهيم شاشو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084D47"/>
                          </a:solidFill>
                          <a:latin typeface="Noto Naskh Arabic"/>
                        </a:rPr>
                        <a:t>فِرَق ومذاهب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200" b="1">
                          <a:solidFill>
                            <a:srgbClr val="B88C1E"/>
                          </a:solidFill>
                          <a:latin typeface="IBM Plex Sans Arabic"/>
                        </a:rPr>
                        <a:t>ساعة / أسبوع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0">
                          <a:solidFill>
                            <a:srgbClr val="2A3836"/>
                          </a:solidFill>
                          <a:latin typeface="IBM Plex Sans Arabic"/>
                        </a:rPr>
                        <a:t>الفرق الإسلامية — محمد أحمد خطيب</a:t>
                      </a:r>
                    </a:p>
                  </a:txBody>
                  <a:tcPr>
                    <a:solidFill>
                      <a:srgbClr val="FBF6E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BM Plex Sans Arab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502920"/>
            <a:ext cx="73152" cy="8229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094415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3200" b="1">
                <a:solidFill>
                  <a:srgbClr val="084D47"/>
                </a:solidFill>
                <a:latin typeface="Noto Naskh Arabic"/>
              </a:rPr>
              <a:t>شروط القبول والوثائق المطلوبة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4A5856"/>
                </a:solidFill>
                <a:latin typeface="IBM Plex Sans Arabic"/>
              </a:rPr>
              <a:t>يرجى إحضار الوثائق كاملة عند التسجيل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2011680"/>
            <a:ext cx="5410047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4495" y="2011680"/>
            <a:ext cx="50000" cy="40233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95284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600" b="1">
                <a:solidFill>
                  <a:srgbClr val="084D47"/>
                </a:solidFill>
                <a:latin typeface="Noto Naskh Arabic"/>
              </a:rPr>
              <a:t>شروط القبول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926080"/>
            <a:ext cx="4952847" cy="2926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أن يكون العمر ١٨ عاماً فما فوق</a:t>
            </a:r>
          </a:p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شهادة التعليم الأساسي كحد أدنى</a:t>
            </a:r>
          </a:p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اجتياز اختبار القبول الكتابي والشفهي</a:t>
            </a:r>
          </a:p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التعهد بالالتزام بالدوام والحضور طوال مدة الدراسة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5410047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C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7247" y="2011680"/>
            <a:ext cx="50000" cy="40233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495284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2600" b="1">
                <a:solidFill>
                  <a:srgbClr val="084D47"/>
                </a:solidFill>
                <a:latin typeface="Noto Naskh Arabic"/>
              </a:rPr>
              <a:t>الوثائق المطلوبة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952847" cy="2926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صورة عن الهوية الشخصية (عدد ٢)</a:t>
            </a:r>
          </a:p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صورة شخصية حديثة ملوّنة (عدد ٢)</a:t>
            </a:r>
          </a:p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صورة مصدّقة عن المؤهل العلمي</a:t>
            </a:r>
          </a:p>
          <a:p>
            <a:pPr algn="r" rtl="1"/>
            <a:r>
              <a:rPr sz="1600" b="0">
                <a:solidFill>
                  <a:srgbClr val="2A3836"/>
                </a:solidFill>
                <a:latin typeface="IBM Plex Sans Arabic"/>
              </a:rPr>
              <a:t>✦  تعبئة نموذج تعهد الالتزام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IBM Plex Sans Arab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4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D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2400" b="0">
                <a:solidFill>
                  <a:srgbClr val="F7F1E3"/>
                </a:solidFill>
                <a:latin typeface="Noto Naskh Arabic"/>
              </a:rPr>
              <a:t>للتسجيل في الدورة الأولى ٢٠٢٦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8247" y="1737360"/>
            <a:ext cx="7315200" cy="1005840"/>
          </a:xfrm>
          <a:prstGeom prst="roundRect">
            <a:avLst>
              <a:gd name="adj" fmla="val 30000"/>
            </a:avLst>
          </a:prstGeom>
          <a:solidFill>
            <a:srgbClr val="1C5550"/>
          </a:solidFill>
          <a:ln w="12700">
            <a:solidFill>
              <a:srgbClr val="E0B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38247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000" b="0">
                <a:solidFill>
                  <a:srgbClr val="F7F1E3"/>
                </a:solidFill>
                <a:latin typeface="Noto Naskh Arabic"/>
              </a:rPr>
              <a:t>آخر موعد لاستقبال الطلبات: </a:t>
            </a:r>
            <a:r>
              <a:rPr sz="3000" b="1">
                <a:solidFill>
                  <a:srgbClr val="E0B333"/>
                </a:solidFill>
                <a:latin typeface="Noto Naskh Arabic"/>
              </a:rPr>
              <a:t>١٩ نيسان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853409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2000" b="0">
                <a:solidFill>
                  <a:srgbClr val="F7F1E3"/>
                </a:solidFill>
                <a:latin typeface="IBM Plex Sans Arabic"/>
              </a:rPr>
              <a:t>التسجيل حضورياً في مقر المعهد لتسليم الوثائق ومقابلة القبول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402336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10423C"/>
          </a:solidFill>
          <a:ln w="12700">
            <a:solidFill>
              <a:srgbClr val="E0B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6247" y="4023360"/>
            <a:ext cx="60000" cy="18288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9767" y="420624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1600" b="1">
                <a:solidFill>
                  <a:srgbClr val="E0B333"/>
                </a:solidFill>
                <a:latin typeface="Noto Naskh Arabic"/>
              </a:rPr>
              <a:t>مقر التسجيل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9767" y="4709160"/>
            <a:ext cx="5943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2200" b="0">
                <a:solidFill>
                  <a:srgbClr val="F7F1E3"/>
                </a:solidFill>
                <a:latin typeface="Noto Naskh Arabic"/>
              </a:rPr>
              <a:t>معهد القرآن الكريم — جامع خالد بن الوليد</a:t>
            </a:r>
          </a:p>
          <a:p>
            <a:pPr algn="ctr" rtl="1"/>
            <a:r>
              <a:rPr sz="2200" b="0">
                <a:solidFill>
                  <a:srgbClr val="F7F1E3"/>
                </a:solidFill>
                <a:latin typeface="Noto Naskh Arabic"/>
              </a:rPr>
              <a:t>الحمدانية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E0B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IBM Plex Sans Arabi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